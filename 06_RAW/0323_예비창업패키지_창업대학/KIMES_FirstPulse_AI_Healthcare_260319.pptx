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70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CE4A1-E240-AB42-E009-8F6EA1EC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F8817-6C0F-73FD-02C3-9808A27FF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4D600-0022-C2C1-FF5D-0C3177B3C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5515B-33B7-D574-D77C-60FE26E1C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15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D2448"/>
          </a:solidFill>
          <a:ln w="12700">
            <a:solidFill>
              <a:srgbClr val="0D24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035040" y="822960"/>
            <a:ext cx="2926080" cy="16459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35040" y="1828800"/>
            <a:ext cx="2926080" cy="16459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35040" y="2834640"/>
            <a:ext cx="2926080" cy="16459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35040" y="3840480"/>
            <a:ext cx="2926080" cy="16459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20040" y="256032"/>
            <a:ext cx="14173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2560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KIMES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6583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CD4"/>
                </a:solidFill>
              </a:rPr>
              <a:t>46년 역사상 최초의 공식 키노트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02412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Pulse: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20040" y="17830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BC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Healthcare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20040" y="290185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</a:rPr>
              <a:t>치료를 넘어 '예측과 일상'으로 진화하는 대한민국 헬스케어의 새로운 맥박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380153"/>
            <a:ext cx="5257800" cy="914400"/>
          </a:xfrm>
          <a:prstGeom prst="rect">
            <a:avLst/>
          </a:prstGeom>
          <a:solidFill>
            <a:srgbClr val="0D2448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453305"/>
            <a:ext cx="5029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0BCD4"/>
                </a:solidFill>
              </a:rPr>
              <a:t>📅  일시  </a:t>
            </a:r>
            <a:r>
              <a:rPr lang="en-US" sz="1150" dirty="0">
                <a:solidFill>
                  <a:srgbClr val="FFFFFF"/>
                </a:solidFill>
              </a:rPr>
              <a:t>2026년 3월 19일 (목)   13:20 – 17:40   (12:00 등록 오픈)
</a:t>
            </a:r>
            <a:r>
              <a:rPr lang="en-US" sz="1150" b="1" dirty="0">
                <a:solidFill>
                  <a:srgbClr val="00BCD4"/>
                </a:solidFill>
              </a:rPr>
              <a:t>📍  장소  </a:t>
            </a:r>
            <a:r>
              <a:rPr lang="en-US" sz="1150" dirty="0">
                <a:solidFill>
                  <a:srgbClr val="FFFFFF"/>
                </a:solidFill>
              </a:rPr>
              <a:t>COEX 그랜드 컨퍼런스룸 401호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97880" y="4572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BCD4"/>
                </a:solidFill>
              </a:rPr>
              <a:t>3 TRACKS · 6 SPEAKERS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005840"/>
            <a:ext cx="30175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89320" y="1005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1335024"/>
            <a:ext cx="3017520" cy="384048"/>
          </a:xfrm>
          <a:prstGeom prst="rect">
            <a:avLst/>
          </a:prstGeom>
          <a:solidFill>
            <a:srgbClr val="0A183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89320" y="13350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구글 딥마인드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1773936"/>
            <a:ext cx="3017520" cy="384048"/>
          </a:xfrm>
          <a:prstGeom prst="rect">
            <a:avLst/>
          </a:prstGeom>
          <a:solidFill>
            <a:srgbClr val="0A183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89320" y="1773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서울대병원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331720"/>
            <a:ext cx="301752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989320" y="2331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2660904"/>
            <a:ext cx="3017520" cy="384048"/>
          </a:xfrm>
          <a:prstGeom prst="rect">
            <a:avLst/>
          </a:prstGeom>
          <a:solidFill>
            <a:srgbClr val="0A183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989320" y="26609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네이버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3099816"/>
            <a:ext cx="3017520" cy="384048"/>
          </a:xfrm>
          <a:prstGeom prst="rect">
            <a:avLst/>
          </a:prstGeom>
          <a:solidFill>
            <a:srgbClr val="0A1830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989320" y="30998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카카오헬스케어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3657600"/>
            <a:ext cx="3017520" cy="29260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989320" y="3657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SHIFT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9320" y="3986784"/>
            <a:ext cx="3017520" cy="384048"/>
          </a:xfrm>
          <a:prstGeom prst="rect">
            <a:avLst/>
          </a:prstGeom>
          <a:solidFill>
            <a:srgbClr val="0A183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89320" y="39867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삼성전자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4425696"/>
            <a:ext cx="3017520" cy="384048"/>
          </a:xfrm>
          <a:prstGeom prst="rect">
            <a:avLst/>
          </a:prstGeom>
          <a:solidFill>
            <a:srgbClr val="0A183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989320" y="44256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아모레퍼시픽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연사 소개 및 세션 목차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54864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56616" y="960120"/>
            <a:ext cx="68580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6616" y="960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3000" y="9418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F1E"/>
                </a:solidFill>
              </a:rPr>
              <a:t>장규혁  ·  구글 딥마인드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18872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시니어 소프트웨어 엔지니어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" y="14356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Gemini가 여는 헬스케어 생태계의 새로운 지평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6616" y="17373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"Gemini가 단순한 분석을 넘어 임상 의사결정을 자율적으로 돕고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병원을 선제적 예측 시스템으로 혁신하는지 보여드리겠습니다."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54864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837176" y="960120"/>
            <a:ext cx="68580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37176" y="960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23560" y="9418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F1E"/>
                </a:solidFill>
              </a:rPr>
              <a:t>장병탁  ·  서울대학교병원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118872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헬스케어AI연구원장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37176" y="14356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헬스케어 산업은 어떻게 AI 시대를 대비해야 하는가?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37176" y="17373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"전통적 의료기기 기업이 AI 소프트웨어 기업으로 도약하기 위한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명확한 나침반을 제시하고자 합니다."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25856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28600" y="2258568"/>
            <a:ext cx="54864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56616" y="2350008"/>
            <a:ext cx="68580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56616" y="23500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ARIES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43000" y="23317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F1E"/>
                </a:solidFill>
              </a:rPr>
              <a:t>최인혁  ·  네이버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257860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테크비즈니스 부문 대표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6616" y="282549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데이터 AI 플랫폼 연결로 구현되는 헬스케어의 미래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6616" y="312724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"네이버의 기술력이 어떻게 혁신 기업들의 헬스케어 데이터를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하나로 연결하고 거대한 미래 생태계를 만들어갈 수 있는지 공개합니다."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225856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709160" y="2258568"/>
            <a:ext cx="54864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837176" y="2350008"/>
            <a:ext cx="68580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37176" y="23500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ARIES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23560" y="23317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F1E"/>
                </a:solidFill>
              </a:rPr>
              <a:t>황희  ·  카카오헬스케어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257860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대표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37176" y="282549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The Long and Winding Road: Digital Healthcare &amp; AI, Back to Fundamentals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37176" y="312724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"우리가 왜 다시 '기본'으로 돌아가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일상 건강 관리를 혁신해야 하는지 이야기해 보겠습니다."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364845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228600" y="3648456"/>
            <a:ext cx="54864" cy="126187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56616" y="3739896"/>
            <a:ext cx="685800" cy="20116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56616" y="37398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SHIFT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43000" y="37216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F1E"/>
                </a:solidFill>
              </a:rPr>
              <a:t>최종민  ·  삼성전자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43000" y="396849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MX사업부 디지털헬스팀 상무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6616" y="42153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F00"/>
                </a:solidFill>
              </a:rPr>
              <a:t>갤럭시워치와 삼성헬스가 선사하는 건강한 일상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56616" y="451713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"갤럭시 워치와 삼성 헬스가 일상 속 선제적 건강 관리를 통해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새로운 디지털 헬스의 미래를 조망합니다."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9160" y="364845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709160" y="3648456"/>
            <a:ext cx="54864" cy="126187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837176" y="3739896"/>
            <a:ext cx="685800" cy="20116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837176" y="37398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SHIFT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623560" y="37216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F1E"/>
                </a:solidFill>
              </a:rPr>
              <a:t>서병휘  ·  아모레퍼시픽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623560" y="396849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부사장 (R&amp;I센터장)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37176" y="42153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F00"/>
                </a:solidFill>
              </a:rPr>
              <a:t>Skincare에서 Holistic Longevity까지, 뷰티테크와 헬스케어 융합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37176" y="451713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"스킨케어를 넘어 세포 재생 역량을 되돌리는 '홀리스틱 롱제비티'.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뷰티테크와 헬스케어의 융합이 열어갈 새로운 장을 나누겠습니다."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B4BF3-0ABC-389D-417A-C45B0B24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2A026A-78BB-C17C-8C29-F78DF41C9CC6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A5E450-2137-A956-85B1-CD7DFE806D5E}"/>
              </a:ext>
            </a:extLst>
          </p:cNvPr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50859C-9A7A-B3B6-B210-2963AC251F13}"/>
              </a:ext>
            </a:extLst>
          </p:cNvPr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연사 소개 및 세션 목차</a:t>
            </a:r>
            <a:endParaRPr lang="en-US" sz="2000" dirty="0"/>
          </a:p>
        </p:txBody>
      </p:sp>
      <p:pic>
        <p:nvPicPr>
          <p:cNvPr id="54" name="그림 53" descr="실내, 텍스트, 프레젠테이션, 회의장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A3A397-69D0-4EA8-906C-835107C5A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894" y="1020396"/>
            <a:ext cx="4853354" cy="364001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47F656A-9A45-F562-E8C6-4DFB1F7E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52" y="1039526"/>
            <a:ext cx="3774833" cy="119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FE068C8F-7FAE-AB80-0C3F-BD2E7F7A7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3" y="2305555"/>
            <a:ext cx="4017107" cy="235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922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 |  Google DeepMind  장규혁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BDEFB"/>
                </a:solidFill>
              </a:rPr>
              <a:t>Gemini가 여는 헬스케어 생태계의 새로운 지평  ①  AI 모델 진화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진화의 4개 웨이브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4023360"/>
            <a:ext cx="193852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406908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DEFB"/>
                </a:solidFill>
              </a:rPr>
              <a:t>1차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427024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통계적 패턴인식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9264" y="4882896"/>
            <a:ext cx="5486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69264" y="48828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23160" y="3520440"/>
            <a:ext cx="1938528" cy="13258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23160" y="356616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DEFB"/>
                </a:solidFill>
              </a:rPr>
              <a:t>2차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23160" y="376732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특징 추출 (Feature)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78024" y="4050792"/>
            <a:ext cx="182880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사람이 직접 특징 설계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→ Rule-based system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18104" y="4882896"/>
            <a:ext cx="548640" cy="20116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118104" y="48828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3017520"/>
            <a:ext cx="1938528" cy="1828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0" y="306324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DEFB"/>
                </a:solidFill>
              </a:rPr>
              <a:t>3차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326440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딥러닝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26864" y="3547872"/>
            <a:ext cx="18288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좁은 영역에서 인간 추월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안과: 당뇨 망막병증·녹내장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영상의학: 폐암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새로운 시그널 발견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[한계] 일반화 불가·컴퓨팅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66944" y="4882896"/>
            <a:ext cx="548640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266944" y="48828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514600"/>
            <a:ext cx="1938528" cy="2331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720840" y="256032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DEFB"/>
                </a:solidFill>
              </a:rPr>
              <a:t>4차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20840" y="276148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· 멀티모달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3044952"/>
            <a:ext cx="182880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텍스트와 멀티모달 자유 활용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압도적인 일반화 능력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임베딩의 마법으로 딥러닝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한계 극복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15784" y="4882896"/>
            <a:ext cx="548640" cy="2011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415784" y="48828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1371600"/>
            <a:ext cx="8595360" cy="713232"/>
          </a:xfrm>
          <a:prstGeom prst="rect">
            <a:avLst/>
          </a:prstGeom>
          <a:solidFill>
            <a:srgbClr val="0D2040"/>
          </a:solidFill>
          <a:ln w="12700">
            <a:solidFill>
              <a:srgbClr val="00BCD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1417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🔑  LLM 임베딩의 마법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텍스트·2D 의료이미지·3D 의료이미지  →  </a:t>
            </a:r>
            <a:r>
              <a:rPr lang="en-US" sz="1000" b="1" dirty="0">
                <a:solidFill>
                  <a:srgbClr val="00BCD4"/>
                </a:solidFill>
              </a:rPr>
              <a:t>임베딩 벡터 (AI가 이해하는 언어)</a:t>
            </a:r>
            <a:r>
              <a:rPr lang="en-US" sz="1000" dirty="0">
                <a:solidFill>
                  <a:srgbClr val="90A4AE"/>
                </a:solidFill>
              </a:rPr>
              <a:t>  →  하나의 모델로 모든 데이터 처리  →  </a:t>
            </a:r>
            <a:r>
              <a:rPr lang="en-US" sz="1000" b="1" dirty="0">
                <a:solidFill>
                  <a:srgbClr val="00BCD4"/>
                </a:solidFill>
              </a:rPr>
              <a:t>서로 간 상관관계 추론 가능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 |  Google DeepMind  장규혁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BDEFB"/>
                </a:solidFill>
              </a:rPr>
              <a:t>Gemini가 여는 헬스케어 생태계의 새로운 지평  ②  구글 의료 LLM 모델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구글 Medical LLM 전략: Gemini × Gemma (Med Gemma)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E7A"/>
                </a:solidFill>
              </a:rPr>
              <a:t>모든 것을 커버할 수 없다  →  역할에 따른 특화 모델 + 하이브리드 시스템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2743200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6642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Gemini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</a:rPr>
              <a:t>고성능 추론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258568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최고 수준의 최신 추론 능력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916936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여러 서비스의 조율자 (Orchestrator)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575304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포괄적인 일반 의학적 이해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4233672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커스터마이징이 필요 없는 영역에 최적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00400" y="1664208"/>
            <a:ext cx="2743200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0" y="16642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Gemma (오픈소스)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</a:rPr>
              <a:t>커스터마이징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2258568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일반 기업·연구소에서 커스터마이징용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916936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하드웨어 제약 극복: 경량화 설계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3575304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데이터 주관·컨트롤러빌리티 확보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4233672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Fine-tuning으로 특화 도메인 성능 구현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66420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126480" y="1664208"/>
            <a:ext cx="2743200" cy="5120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126480" y="16642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Med Gemma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5FF"/>
                </a:solidFill>
              </a:rPr>
              <a:t>의료 특화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36208" y="2258568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텍스트·임상·3D 데이터 학습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2916936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Med ASR: 의학 전문용어 음성인식 특화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(어려운 의학용어 인식률 낮아 별도 개발)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36208" y="3575304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뛰어난 성능, 비용은 Gemini의 1/100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36208" y="4233672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엄격한 데이터 통제·제한 네트워크·커스터마이징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24866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0A4AE"/>
                </a:solidFill>
              </a:rPr>
              <a:t>+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950946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0A4AE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</a:rPr>
              <a:t>💡  권장: Gemini (고성능 범용) + Med Gemma (비용 효율 특화) 하이브리드 시스템으로 운영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 |  Google DeepMind  장규혁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BDEFB"/>
                </a:solidFill>
              </a:rPr>
              <a:t>Gemini가 여는 헬스케어 생태계의 새로운 지평  ③  에이전틱 시스템 &amp; 가드레일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헬스케어를 위한 에이전틱 AI 시스템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8595360" cy="384048"/>
          </a:xfrm>
          <a:prstGeom prst="rect">
            <a:avLst/>
          </a:prstGeom>
          <a:solidFill>
            <a:srgbClr val="0D204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85953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에이전트 AI란?  </a:t>
            </a:r>
            <a:r>
              <a:rPr lang="en-US" sz="1050" dirty="0">
                <a:solidFill>
                  <a:srgbClr val="FFFFFF"/>
                </a:solidFill>
              </a:rPr>
              <a:t>일반 AI는 질문에 응답하지만, 에이전트는 </a:t>
            </a:r>
            <a:r>
              <a:rPr lang="en-US" sz="1050" b="1" dirty="0">
                <a:solidFill>
                  <a:srgbClr val="00BCD4"/>
                </a:solidFill>
              </a:rPr>
              <a:t>'미션'</a:t>
            </a:r>
            <a:r>
              <a:rPr lang="en-US" sz="1050" dirty="0">
                <a:solidFill>
                  <a:srgbClr val="FFFFFF"/>
                </a:solidFill>
              </a:rPr>
              <a:t>을 받아 끝까지 포기하지 않고 수행한다.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0BCD4"/>
                </a:solidFill>
              </a:rPr>
              <a:t>AMIE (Articulate Medical Intelligence Explorer)</a:t>
            </a:r>
            <a:r>
              <a:rPr lang="ko-KR" altLang="en-US" sz="1100" b="1" dirty="0">
                <a:solidFill>
                  <a:srgbClr val="00BCD4"/>
                </a:solidFill>
              </a:rPr>
              <a:t> </a:t>
            </a:r>
            <a:r>
              <a:rPr lang="en-US" altLang="ko-KR" sz="1100" b="1" dirty="0">
                <a:solidFill>
                  <a:srgbClr val="00BCD4"/>
                </a:solidFill>
              </a:rPr>
              <a:t>:</a:t>
            </a:r>
            <a:r>
              <a:rPr lang="ko-KR" altLang="en-US" sz="1100" b="1" dirty="0">
                <a:solidFill>
                  <a:srgbClr val="00BCD4"/>
                </a:solidFill>
              </a:rPr>
              <a:t> </a:t>
            </a:r>
            <a:r>
              <a:rPr lang="en" altLang="ko-KR" sz="1100" dirty="0">
                <a:solidFill>
                  <a:schemeClr val="bg1"/>
                </a:solidFill>
              </a:rPr>
              <a:t>Google DeepMind</a:t>
            </a:r>
            <a:r>
              <a:rPr lang="ko-KR" altLang="en-US" sz="1100" dirty="0">
                <a:solidFill>
                  <a:schemeClr val="bg1"/>
                </a:solidFill>
              </a:rPr>
              <a:t>이 개발한 의료 진단 대화 </a:t>
            </a:r>
            <a:r>
              <a:rPr lang="en" altLang="ko-KR" sz="1100" dirty="0">
                <a:solidFill>
                  <a:schemeClr val="bg1"/>
                </a:solidFill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</a:rPr>
              <a:t>연구 시스템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150876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환자 대화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(Dialog)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233172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93392" y="2148840"/>
            <a:ext cx="1508760" cy="7772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993392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진단 추론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(AMIE)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02152" y="233172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12464" y="2148840"/>
            <a:ext cx="1508760" cy="77724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712464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highlight>
                  <a:srgbClr val="FFFF00"/>
                </a:highlight>
              </a:rPr>
              <a:t>가드레일</a:t>
            </a:r>
            <a:endParaRPr lang="en-US" sz="950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에이전트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21224" y="233172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31536" y="2148840"/>
            <a:ext cx="150876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31536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진료기록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자동작성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40296" y="233172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50608" y="2148840"/>
            <a:ext cx="150876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150608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highlight>
                  <a:srgbClr val="FFFF00"/>
                </a:highlight>
              </a:rPr>
              <a:t>의사 최종</a:t>
            </a:r>
            <a:endParaRPr lang="en-US" sz="950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검토·판단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2980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</a:rPr>
              <a:t>세 에이전트가 상호 피드백  →  </a:t>
            </a:r>
            <a:r>
              <a:rPr lang="en-US" sz="950" i="1" dirty="0">
                <a:solidFill>
                  <a:srgbClr val="FFFF00"/>
                </a:solidFill>
              </a:rPr>
              <a:t>최종 책임은 인간 의사</a:t>
            </a:r>
            <a:endParaRPr lang="en-US" sz="950" dirty="0">
              <a:solidFill>
                <a:srgbClr val="FFFF0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4160520" cy="16459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74320" y="3291840"/>
            <a:ext cx="182880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7432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AMIE 평가 결과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611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공감·경청·환자 안심 능력: 인간 의사 대비 월등히 높은 평가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진단 정확도: 인간 의사보다 높음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0000"/>
                </a:solidFill>
              </a:rPr>
              <a:t>인간 의사 + AMIE 협업 시 최고 성과 달성</a:t>
            </a:r>
          </a:p>
        </p:txBody>
      </p:sp>
      <p:sp>
        <p:nvSpPr>
          <p:cNvPr id="29" name="Shape 27"/>
          <p:cNvSpPr/>
          <p:nvPr/>
        </p:nvSpPr>
        <p:spPr>
          <a:xfrm>
            <a:off x="4709160" y="3291840"/>
            <a:ext cx="4160520" cy="1645920"/>
          </a:xfrm>
          <a:prstGeom prst="rect">
            <a:avLst/>
          </a:prstGeom>
          <a:solidFill>
            <a:srgbClr val="0D2040"/>
          </a:solidFill>
          <a:ln w="12700">
            <a:solidFill>
              <a:srgbClr val="FF6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709160" y="3291840"/>
            <a:ext cx="2011680" cy="27432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0916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 부작용 &amp; 가드레일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611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Minor Changes Skew Clinical Advice: 성별·어조·오타만으로도 판단 왜곡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NOTA 테스트: '위 정답 중 없음' 추가 시 정확도 급락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가드레일: 임상 Fine-tuning + RAG 그라운딩 + 엄격한 프롬프팅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결합 해제 에이전트 + 실시간 감시 + 비동기 검토·투명한 추론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BCD4"/>
                </a:solidFill>
              </a:rPr>
              <a:t>"모든 AI 회사가 헬스 AI에 진심이다. AI는 선택이 아니다 — 왜 AI가 안 될까?를 먼저 질문하라."  — 장규혁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 |  서울대학교병원  장병탁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BDEFB"/>
                </a:solidFill>
              </a:rPr>
              <a:t>헬스케어 산업은 어떻게 AI 시대를 대비해야 하는가?  ①  AI 발전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AI의 4단계 발전: 판단 → 생성 → 행동 → 피지컬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인공지능: '지각/사고/행동'하는 기계 (튜링 테스트)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20299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202996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CE5FF"/>
                </a:solidFill>
              </a:rPr>
              <a:t>1단계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18288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감독학습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(판단형 AI)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231136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Rule-based system에서 출발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889504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딥러닝: 대량 데이터로 스스로 규칙 발견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547872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알파고: 바둑을 이미지·영상 딥러닝으로 학습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41448" y="1627632"/>
            <a:ext cx="20299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441448" y="1627632"/>
            <a:ext cx="2029968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41448" y="162763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CE5FF"/>
                </a:solidFill>
              </a:rPr>
              <a:t>2단계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41448" y="18288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비감독학습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(생성형 AI)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32888" y="2231136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입력값 = 출력값 (오토인코더 방식)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2889504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인코딩: 압축 과정에서 특징 추출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32888" y="3547872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디코딩: 생성 과정에서 이미지 재현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32888" y="4206240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대규모 멀티모달로 확장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08576" y="1627632"/>
            <a:ext cx="20299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608576" y="1627632"/>
            <a:ext cx="2029968" cy="56692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08576" y="162763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CE5FF"/>
                </a:solidFill>
              </a:rPr>
              <a:t>3단계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08576" y="18288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강화학습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(행동형 AI)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016" y="2231136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보상 최대화를 목표로 행동 학습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0016" y="2889504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DNN 기반 심층 강화학습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3547872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의사결정 보조에 활용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75704" y="1627632"/>
            <a:ext cx="20299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775704" y="1627632"/>
            <a:ext cx="2029968" cy="5669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775704" y="162763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CE5FF"/>
                </a:solidFill>
              </a:rPr>
              <a:t>4단계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75704" y="18288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모방학습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(피지컬 AI)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67144" y="2231136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VLA (Vision-Language-Action) 모델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67144" y="2889504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센서형 로봇에 사람이 직접 동작 시연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67144" y="3547872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80F1E"/>
                </a:solidFill>
              </a:rPr>
              <a:t>물리적 세계에서의 AI 행동 구현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</a:rPr>
              <a:t>= 판단형 + 생성형 + 행동형 + 피지컬  →  Physical AI (모방학습)로 수렴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 |  서울대학교병원  장병탁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BDEFB"/>
                </a:solidFill>
              </a:rPr>
              <a:t>헬스케어 산업은 어떻게 AI 시대를 대비해야 하는가?  ②  AI 헬스케어 &amp; 미래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유형 × 헬스케어 적용 영역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4206240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6400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🔍  판단형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17922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기반: 감독학습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헬스케어 적용: 질병 예측 · 영상 판독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27448" y="1389888"/>
            <a:ext cx="4206240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27448" y="1389888"/>
            <a:ext cx="6400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92040" y="14813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</a:rPr>
              <a:t>✍️  생성형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7922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기반: 비감독학습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04825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헬스케어 적용: 진단문서 자동 작성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807208"/>
            <a:ext cx="4206240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FF6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2807208"/>
            <a:ext cx="64008" cy="126187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38912" y="2898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F00"/>
                </a:solidFill>
              </a:rPr>
              <a:t>⚡  행동형 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32095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기반: 강화학습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346557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헬스케어 적용: 의사결정 지원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27448" y="2807208"/>
            <a:ext cx="4206240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6A1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27448" y="2807208"/>
            <a:ext cx="64008" cy="1261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92040" y="2898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</a:rPr>
              <a:t>🤖  피지컬 AI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2095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기반: 모방학습 (VLA)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46557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헬스케어 적용: 로봇 수술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4279392"/>
            <a:ext cx="859536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00BCD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315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AI의 미래 방향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544568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초기  </a:t>
            </a:r>
            <a:r>
              <a:rPr lang="en-US" sz="1100" b="1" dirty="0">
                <a:solidFill>
                  <a:srgbClr val="FFFFFF"/>
                </a:solidFill>
              </a:rPr>
              <a:t>지식·지혜 강조</a:t>
            </a:r>
            <a:r>
              <a:rPr lang="en-US" sz="1100" dirty="0">
                <a:solidFill>
                  <a:srgbClr val="90A4AE"/>
                </a:solidFill>
              </a:rPr>
              <a:t>   →   현재  </a:t>
            </a:r>
            <a:r>
              <a:rPr lang="en-US" sz="1100" b="1" dirty="0">
                <a:solidFill>
                  <a:srgbClr val="FFFFFF"/>
                </a:solidFill>
              </a:rPr>
              <a:t>데이터·정보 중심</a:t>
            </a:r>
            <a:r>
              <a:rPr lang="en-US" sz="1100" dirty="0">
                <a:solidFill>
                  <a:srgbClr val="90A4AE"/>
                </a:solidFill>
              </a:rPr>
              <a:t>   →   미래  </a:t>
            </a:r>
            <a:r>
              <a:rPr lang="en-US" sz="1100" b="1" dirty="0">
                <a:solidFill>
                  <a:srgbClr val="00BCD4"/>
                </a:solidFill>
              </a:rPr>
              <a:t>현실·물리적 세계에서의 AI 행동이 핵심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ARIES  |  네이버  최인혁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BDEFB"/>
                </a:solidFill>
              </a:rPr>
              <a:t>데이터 AI 플랫폼 연결로 구현되는 헬스케어의 미래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네이버 헬스케어: 투자·연결·내재화 전략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34416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</a:rPr>
              <a:t>핵심 전략: </a:t>
            </a:r>
            <a:r>
              <a:rPr lang="en-US" sz="1050" dirty="0">
                <a:solidFill>
                  <a:srgbClr val="080F1E"/>
                </a:solidFill>
              </a:rPr>
              <a:t>개인 건강관리 및 의료 환경 개선의 핵심 = </a:t>
            </a:r>
            <a:r>
              <a:rPr lang="en-US" sz="1050" b="1" dirty="0">
                <a:solidFill>
                  <a:srgbClr val="00897B"/>
                </a:solidFill>
              </a:rPr>
              <a:t>데이터  </a:t>
            </a:r>
            <a:r>
              <a:rPr lang="en-US" sz="1050" dirty="0">
                <a:solidFill>
                  <a:srgbClr val="080F1E"/>
                </a:solidFill>
              </a:rPr>
              <a:t>│  Unmet Needs 높은 영역 중심 </a:t>
            </a:r>
            <a:r>
              <a:rPr lang="en-US" sz="1050" b="1" dirty="0">
                <a:solidFill>
                  <a:srgbClr val="00897B"/>
                </a:solidFill>
              </a:rPr>
              <a:t>기술 투자  </a:t>
            </a:r>
            <a:r>
              <a:rPr lang="en-US" sz="1050" dirty="0">
                <a:solidFill>
                  <a:srgbClr val="080F1E"/>
                </a:solidFill>
              </a:rPr>
              <a:t>│  AI 기반 모델 </a:t>
            </a:r>
            <a:r>
              <a:rPr lang="en-US" sz="1050" b="1" dirty="0">
                <a:solidFill>
                  <a:srgbClr val="00897B"/>
                </a:solidFill>
              </a:rPr>
              <a:t>내재화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420624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19385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클로버 케어콜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011680"/>
            <a:ext cx="1005840" cy="228600"/>
          </a:xfrm>
          <a:prstGeom prst="rect">
            <a:avLst/>
          </a:prstGeom>
          <a:solidFill>
            <a:srgbClr val="0A5060"/>
          </a:solidFill>
          <a:ln w="12700">
            <a:solidFill>
              <a:srgbClr val="1E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자체 서비스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4048" y="237744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전국 독거노인 AI 전화 방문 서비스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60604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정기적 안부 확인·이상 감지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27448" y="193852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727448" y="1938528"/>
            <a:ext cx="42062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kmed 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90688" y="2011680"/>
            <a:ext cx="1005840" cy="228600"/>
          </a:xfrm>
          <a:prstGeom prst="rect">
            <a:avLst/>
          </a:prstGeom>
          <a:solidFill>
            <a:srgbClr val="0A5060"/>
          </a:solidFill>
          <a:ln w="12700">
            <a:solidFill>
              <a:srgbClr val="1E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790688" y="2011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투자사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37176" y="237744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의료 전문 LLM 개발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37176" y="260604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임상 도메인 특화 언어모델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44728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74320" y="3447288"/>
            <a:ext cx="420624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65760" y="34472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세나클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3520440"/>
            <a:ext cx="1005840" cy="228600"/>
          </a:xfrm>
          <a:prstGeom prst="rect">
            <a:avLst/>
          </a:prstGeom>
          <a:solidFill>
            <a:srgbClr val="0A5060"/>
          </a:solidFill>
          <a:ln w="12700">
            <a:solidFill>
              <a:srgbClr val="1E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투자사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4048" y="38862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1차 의료기관 의원용 전자차트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41148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의사·환자 연결 디지털 플랫폼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43434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의료행정·환자·경영파트너 연결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" y="45720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AI와의 연결 (AI 통합)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27448" y="344728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727448" y="3447288"/>
            <a:ext cx="420624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18888" y="34472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제이엔피메디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90688" y="3520440"/>
            <a:ext cx="1005840" cy="228600"/>
          </a:xfrm>
          <a:prstGeom prst="rect">
            <a:avLst/>
          </a:prstGeom>
          <a:solidFill>
            <a:srgbClr val="0A5060"/>
          </a:solidFill>
          <a:ln w="12700">
            <a:solidFill>
              <a:srgbClr val="1E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790688" y="3520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투자사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37176" y="38862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임상시험 전문 기업 (개발자 창업)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37176" y="41148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인허가 프로세스 지원·자동화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ARIES  |  카카오헬스케어  황희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BDEFB"/>
                </a:solidFill>
              </a:rPr>
              <a:t>The Long and Winding Road: Digital Healthcare &amp; AI, Back to Fundamentals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카카오헬스케어 3대 사업 &amp; AI Native EMR 비전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</a:rPr>
              <a:t>카카오 × 차바이오 합작회사  │  OpenAI·Anthropic·Google 이미 의료 챗봇 개발 중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600200"/>
            <a:ext cx="2834640" cy="30175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28600" y="1600200"/>
            <a:ext cx="283464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1752" y="160020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" y="187452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BDEFB"/>
                </a:solidFill>
              </a:rPr>
              <a:t>AI 기반 만성질환 플랫폼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1305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당뇨·고혈압 → 의료비 최대 부담 질환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4414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연속 혈당측정기 (CGM) 연동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7523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비전 AI (Dietary Record): 식단 이미지 기록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0632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개인 AI 진단·전당뇨·비만 (GLP-1)·스마트워치 생체 신호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3741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633M 혈당 데이터셋 확보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6850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CD4"/>
                </a:solidFill>
              </a:rPr>
              <a:t>→ 혈당수치 + 식단기록 + 운동기록 연동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39959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CD4"/>
                </a:solidFill>
              </a:rPr>
              <a:t>→ 혈당 예측 고성능 모델 구현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600200"/>
            <a:ext cx="2834640" cy="3017520"/>
          </a:xfrm>
          <a:prstGeom prst="rect">
            <a:avLst/>
          </a:prstGeom>
          <a:solidFill>
            <a:srgbClr val="0D204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200400" y="1600200"/>
            <a:ext cx="283464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73552" y="160020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Karechat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73552" y="187452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BDEFB"/>
                </a:solidFill>
              </a:rPr>
              <a:t>헬스케어 환자 연결 플랫폼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91840" y="21305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카카오톡 기반 환자-의사 연결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24414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기존 굿닥 등 서비스 영역 침범 없이 연계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27523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카카오톡 인프라로 빠른 확장 가능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600200"/>
            <a:ext cx="2834640" cy="3017520"/>
          </a:xfrm>
          <a:prstGeom prst="rect">
            <a:avLst/>
          </a:prstGeom>
          <a:solidFill>
            <a:srgbClr val="0D2040"/>
          </a:solidFill>
          <a:ln w="12700">
            <a:solidFill>
              <a:srgbClr val="6A1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172200" y="1600200"/>
            <a:ext cx="2834640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45352" y="160020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Healthcare Data Platform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187452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BDEFB"/>
                </a:solidFill>
              </a:rPr>
              <a:t>HRS / Hycorn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63640" y="21305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병원이 데이터를 저장·관리하는 플랫폼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24414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데이터 표준화 (자동화 매핑 툴)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27523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전자차트 텍스트 데이터 학습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0632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서울대병원 × POLARIs: 클리니컬 지노믹스 데이터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4690872"/>
            <a:ext cx="8686800" cy="3657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28600" y="4690872"/>
            <a:ext cx="868680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</a:rPr>
              <a:t>🎯  최종 목표: </a:t>
            </a:r>
            <a:r>
              <a:rPr lang="en-US" sz="1000" dirty="0">
                <a:solidFill>
                  <a:srgbClr val="FFFFFF"/>
                </a:solidFill>
              </a:rPr>
              <a:t>AI Native EMR — AI가 EMR을 스스로 학습해 의사에게 정보 제공 (</a:t>
            </a:r>
            <a:r>
              <a:rPr lang="en-US" sz="1000" b="1" dirty="0">
                <a:solidFill>
                  <a:srgbClr val="00BCD4"/>
                </a:solidFill>
              </a:rPr>
              <a:t>러닝 헬스 시스템</a:t>
            </a:r>
            <a:r>
              <a:rPr lang="en-US" sz="1000" dirty="0">
                <a:solidFill>
                  <a:srgbClr val="FFFFFF"/>
                </a:solidFill>
              </a:rPr>
              <a:t>)</a:t>
            </a:r>
            <a:endParaRPr lang="en-US" sz="1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5D3CC3-B6A7-8AFF-8BAF-78D981F97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280" y="3424428"/>
            <a:ext cx="1113361" cy="106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SHIFT  |  삼성전자  최종민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BDEFB"/>
                </a:solidFill>
              </a:rPr>
              <a:t>갤럭시워치와 삼성헬스가 선사하는 건강한 일상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서비스 · 디바이스 · 사람의 연결 — 치료→예측→일상 관리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56032" y="1344168"/>
            <a:ext cx="279806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6032" y="1344168"/>
            <a:ext cx="2798064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56032" y="1344168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광학 센서 (PPG)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819656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운동 시 심박수 측정 · 땀 배출량 계산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15798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VO₂max: 운동능력 평가·심폐지구력 측정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49631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스트레스 모니터링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83464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하루 심박수 모니터링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3172968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이상 심박 리듬 알림·부정맥·심방세동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3511296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혈관 부하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384962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수면 상태 분석 · 취침 시간 가이드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418795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항산화 지수 · 최종 당화 산물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1344168"/>
            <a:ext cx="279806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218688" y="1344168"/>
            <a:ext cx="2798064" cy="42062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18688" y="1344168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전극 센서 (ECS / BIA)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1819656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심방세동 (Atrial Fibrillation) 감지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215798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Ectopic Beats 모니터링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249631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BIA 센서: 체성분 분석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0128" y="283464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EDA 센서 (SDK): 피부 표면 땀 측정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81344" y="1344168"/>
            <a:ext cx="279806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181344" y="1344168"/>
            <a:ext cx="2798064" cy="420624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81344" y="1344168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온도 센서 (IR 적외선)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1819656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피부 측정 → 체온 추정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72784" y="215798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(말단 체온 직접측정 어려움 → 피부 방식 채택)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72784" y="249631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80F1E"/>
                </a:solidFill>
              </a:rPr>
              <a:t>여성 건강 (생리주기 연계)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CD4"/>
                </a:solidFill>
              </a:rPr>
              <a:t>🤖  AI 코칭: 에너지 점수 &amp; 인사이트 메시지 · 러닝 코칭 개인화  │  SDK 공개 → 외부 서비스 연동 생태계 구축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SHIFT  |  아모레퍼시픽  서병휘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BDEFB"/>
                </a:solidFill>
              </a:rPr>
              <a:t>Skincare에서 Holistic Longevity까지, 뷰티테크와 헬스케어 융합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피부: 우리 몸에서 가장 큰 장기  →  뷰티 데이터가 헬스케어의 새 원천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1344168"/>
            <a:ext cx="4224528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FF6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6032" y="1344168"/>
            <a:ext cx="2286000" cy="27432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56032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Beauty Data Company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664208"/>
            <a:ext cx="4005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피부 진단·물질 설계·결과 예측 데이터 수십 년 축적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피부과학 기반 AI 학습 데이터 보유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Holistic Longevity: 피부 방어력·재생력을 안팎에서 강화해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노화를 늦추고 되돌려 피부·모발 건강 장수 실현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344168"/>
            <a:ext cx="4224528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1344168"/>
            <a:ext cx="137160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6344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케어 전략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1664208"/>
            <a:ext cx="146304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73168" y="1664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Preventive Care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09360" y="166420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피부 건강 예방에 주목, 이상 징후 조기 감지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73168" y="2075688"/>
            <a:ext cx="146304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73168" y="2075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Active Care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09360" y="207568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적극적인 개입과 개선, 세포 재생 역량 회복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706624"/>
            <a:ext cx="4224528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FF6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277977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</a:rPr>
              <a:t>🧬  Dr.AMORE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054096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피부 데이터를 이해하는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273552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현재 피부 상태 진단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493008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피부 변화·노화 예측 (미래 상태 예측)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706624"/>
            <a:ext cx="4224528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18888" y="277977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</a:rPr>
              <a:t>📱  Skinsight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8888" y="3054096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일상 속 진단 플랫폼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18888" y="3273552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피부 부착 센서: e-skin 패치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18888" y="3493008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상시 피부 상태 모니터링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803904"/>
            <a:ext cx="4224528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6A1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65760" y="387705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🔬  AI 피부 자극 진단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151376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AI 기반 피부 자극 자동 진단 기술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370832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피부 패치 테스트·홍반 이미지 데이터 활용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803904"/>
            <a:ext cx="4224528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18888" y="387705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⚗️  바이오소재 &amp; 디바이스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18888" y="4151376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Designed Nucleotide: 바이오 소재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18888" y="4370832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스킨케어 디바이스·뷰티 테크 제품군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인사이트 &amp; 시사점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3035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896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AI는 보조, 결정은 인간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1704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Guardrail·멀티에이전트로 AI 오류 방지 — 최종 의사결정과 책임은 의료 전문가가 보유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859536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530352" cy="7498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169164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17190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</a:rPr>
              <a:t>데이터가 진짜 경쟁력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19933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633M 혈당(카카오), 수십년 피부 데이터(아모레), 임상 유전체(서울대) — 도메인 특화 데이터가 진입장벽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859536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FF6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530352" cy="74980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4320" y="251460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5420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</a:rPr>
              <a:t>치료 → 예측 → 일상 관리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8163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삼성·카카오·아모레 모두 '병원 밖 일상 선제적 관리'로 패러다임 전환. 예방과 지속 모니터링이 핵심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859536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6A1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530352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74320" y="3337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33649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플랫폼 &amp; 생태계 경쟁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36393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단독 제품보다 연결된 생태계가 승리. 네이버·카카오는 이미 데이터 플랫폼으로 의료 생태계를 재편 중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74320" y="4160520"/>
            <a:ext cx="530352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74320" y="416052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4187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AI는 선택이 아닌 기본값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" y="44622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'AI를 어떻게 쓸까?'가 아니라 '왜 AI가 안 될까?'를 질문하는 시대. 모든 헬스케어 기업이 AI 기업化 중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1746</Words>
  <Application>Microsoft Macintosh PowerPoint</Application>
  <PresentationFormat>화면 슬라이드 쇼(16:9)</PresentationFormat>
  <Paragraphs>310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Pulse: AI in Healthcare — KIMES 2026</dc:title>
  <dc:subject>PptxGenJS Presentation</dc:subject>
  <dc:creator>PptxGenJS</dc:creator>
  <cp:lastModifiedBy>2732</cp:lastModifiedBy>
  <cp:revision>3</cp:revision>
  <dcterms:created xsi:type="dcterms:W3CDTF">2026-03-20T10:08:05Z</dcterms:created>
  <dcterms:modified xsi:type="dcterms:W3CDTF">2026-03-20T10:35:44Z</dcterms:modified>
</cp:coreProperties>
</file>